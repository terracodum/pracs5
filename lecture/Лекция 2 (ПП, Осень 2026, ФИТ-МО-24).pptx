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1DF3CD-BCCF-46F9-813A-DCDBEA4EA6ED}">
  <a:tblStyle styleId="{A71DF3CD-BCCF-46F9-813A-DCDBEA4EA6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DD0950E-45A4-4884-ACBC-68C562C4740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8d7dbd3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8d7dbd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8d7dbd3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8d7dbd3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1f5ac1c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1f5ac1c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11d667c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11d667c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8d7dbd3e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8d7dbd3e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8d7dbd3e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8d7dbd3e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dc6c0b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dc6c0b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8d7dbd3e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8d7dbd3e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d7dbd3e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8d7dbd3e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8d7dbd3e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8d7dbd3e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8d7dbd3e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8d7dbd3e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1d667c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11d667c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63fdd8d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b63fdd8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63fdd8d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b63fdd8d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11d667c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11d667c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8d7dbd3e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8d7dbd3e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11d667c7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11d667c7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11d667c7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11d667c7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dc6c0be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8dc6c0be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dc6c0be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dc6c0be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dc6c0be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8dc6c0be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dc6c0be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dc6c0be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62550"/>
            <a:ext cx="8520600" cy="130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00"/>
              <a:t>Лекция 2.</a:t>
            </a:r>
            <a:r>
              <a:rPr lang="ru" sz="3000"/>
              <a:t> Обработка пропущенных значений. Кодирование категориальных признаков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27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880"/>
              <a:t>Практикум по программированию, 5 семестр</a:t>
            </a:r>
            <a:endParaRPr sz="1880"/>
          </a:p>
        </p:txBody>
      </p:sp>
      <p:sp>
        <p:nvSpPr>
          <p:cNvPr id="56" name="Google Shape;56;p13"/>
          <p:cNvSpPr txBox="1"/>
          <p:nvPr/>
        </p:nvSpPr>
        <p:spPr>
          <a:xfrm>
            <a:off x="5452200" y="3563400"/>
            <a:ext cx="338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Иван Евгеньевич Бугаенко, 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ассистент каф. ПМиФИ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Из-за каких проблем в данных невозможно обучить модели?</a:t>
            </a:r>
            <a:endParaRPr sz="35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629100"/>
            <a:ext cx="8520600" cy="16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solidFill>
                  <a:schemeClr val="dk2"/>
                </a:solidFill>
              </a:rPr>
              <a:t>Если в данных есть пропуски или категориальные признаки, то подавляющее </a:t>
            </a:r>
            <a:r>
              <a:rPr lang="ru" sz="3020">
                <a:solidFill>
                  <a:schemeClr val="dk2"/>
                </a:solidFill>
              </a:rPr>
              <a:t>большинство</a:t>
            </a:r>
            <a:r>
              <a:rPr lang="ru" sz="3020">
                <a:solidFill>
                  <a:schemeClr val="dk2"/>
                </a:solidFill>
              </a:rPr>
              <a:t> моделей обучиться не сможет</a:t>
            </a:r>
            <a:r>
              <a:rPr lang="ru" sz="3020">
                <a:solidFill>
                  <a:schemeClr val="dk2"/>
                </a:solidFill>
              </a:rPr>
              <a:t> 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Подходы по обработке пропущенных значений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интерпретация пропущенных значений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статистические</a:t>
            </a:r>
            <a:r>
              <a:rPr lang="ru" sz="1600"/>
              <a:t> </a:t>
            </a:r>
            <a:r>
              <a:rPr lang="ru" sz="1600"/>
              <a:t>подходы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машинные методы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заполнение на основе соседних значений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Интерпретация пропущенных значений 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Пропуски можно заполнять значениями, которые отвечают бизнес-правилам признакового пространства</a:t>
            </a:r>
            <a:endParaRPr sz="1600"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311700" y="25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{A71DF3CD-BCCF-46F9-813A-DCDBEA4EA6ED}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cat_feature1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target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56.09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79.6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F0000"/>
                          </a:solidFill>
                        </a:rPr>
                        <a:t>NaN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2059317"/>
            <a:ext cx="86478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Пример 1.</a:t>
            </a:r>
            <a:r>
              <a:rPr lang="ru" sz="1600"/>
              <a:t> Пропуск в категориальных данных</a:t>
            </a:r>
            <a:endParaRPr sz="1600"/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4999750" y="25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{A71DF3CD-BCCF-46F9-813A-DCDBEA4EA6ED}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cat_feature1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target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56.09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79.6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6AA84F"/>
                          </a:solidFill>
                        </a:rPr>
                        <a:t>'</a:t>
                      </a:r>
                      <a:r>
                        <a:rPr lang="ru" sz="1200">
                          <a:solidFill>
                            <a:srgbClr val="6AA84F"/>
                          </a:solidFill>
                        </a:rPr>
                        <a:t>NaN'</a:t>
                      </a:r>
                      <a:endParaRPr sz="12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2" name="Google Shape;82;p17"/>
          <p:cNvCxnSpPr/>
          <p:nvPr/>
        </p:nvCxnSpPr>
        <p:spPr>
          <a:xfrm>
            <a:off x="4409250" y="3168325"/>
            <a:ext cx="45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Интерпретация пропущенных значений</a:t>
            </a:r>
            <a:r>
              <a:rPr lang="ru"/>
              <a:t> </a:t>
            </a:r>
            <a:endParaRPr/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311700" y="1675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{A71DF3CD-BCCF-46F9-813A-DCDBEA4EA6ED}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cat_feature1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target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56.09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79.6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b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F0000"/>
                          </a:solidFill>
                        </a:rPr>
                        <a:t>NaN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89320"/>
            <a:ext cx="86478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Пример 2.</a:t>
            </a:r>
            <a:r>
              <a:rPr lang="ru" sz="1600"/>
              <a:t> Пропуск в вещественных признаках</a:t>
            </a:r>
            <a:endParaRPr sz="1600"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4999750" y="1675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{A71DF3CD-BCCF-46F9-813A-DCDBEA4EA6ED}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cat_feature1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target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56.09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79.6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b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6AA84F"/>
                          </a:solidFill>
                        </a:rPr>
                        <a:t>0 / -1 / 9999</a:t>
                      </a:r>
                      <a:endParaRPr sz="12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1" name="Google Shape;91;p18"/>
          <p:cNvCxnSpPr/>
          <p:nvPr/>
        </p:nvCxnSpPr>
        <p:spPr>
          <a:xfrm>
            <a:off x="4409250" y="2298328"/>
            <a:ext cx="45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Статистические подходы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Пропуски можно заполнять значениями, которые вычисляются на основе значений признаков, составляющих выборку</a:t>
            </a:r>
            <a:endParaRPr sz="1600"/>
          </a:p>
        </p:txBody>
      </p:sp>
      <p:graphicFrame>
        <p:nvGraphicFramePr>
          <p:cNvPr id="98" name="Google Shape;98;p19"/>
          <p:cNvGraphicFramePr/>
          <p:nvPr/>
        </p:nvGraphicFramePr>
        <p:xfrm>
          <a:off x="311700" y="25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{A71DF3CD-BCCF-46F9-813A-DCDBEA4EA6ED}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cat_feature1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target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F0000"/>
                          </a:solidFill>
                        </a:rPr>
                        <a:t>NaN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8</a:t>
                      </a:r>
                      <a:r>
                        <a:rPr lang="ru" sz="1200"/>
                        <a:t>6.23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r>
                        <a:rPr lang="ru" sz="1200"/>
                        <a:t>6.76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6</a:t>
                      </a:r>
                      <a:r>
                        <a:rPr lang="ru" sz="1200"/>
                        <a:t>6.09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2059317"/>
            <a:ext cx="86478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Пример 3.</a:t>
            </a:r>
            <a:r>
              <a:rPr lang="ru" sz="1600"/>
              <a:t> Пропуск в категориальных данных</a:t>
            </a:r>
            <a:endParaRPr sz="1600"/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4999750" y="25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{A71DF3CD-BCCF-46F9-813A-DCDBEA4EA6ED}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num_feature1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cat_feature1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num_feature2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target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6AA84F"/>
                          </a:solidFill>
                        </a:rPr>
                        <a:t>mean / med</a:t>
                      </a:r>
                      <a:endParaRPr sz="12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86.23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26.76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66.09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1" name="Google Shape;101;p19"/>
          <p:cNvCxnSpPr/>
          <p:nvPr/>
        </p:nvCxnSpPr>
        <p:spPr>
          <a:xfrm>
            <a:off x="4409250" y="3498125"/>
            <a:ext cx="45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Статистические подходы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647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НО!</a:t>
            </a:r>
            <a:r>
              <a:rPr lang="ru" sz="1600"/>
              <a:t> Заполнение некоторой константой может кардинально изменить распределение признака. Пусть есть датасет из 10000 записей, в этом датасете в некотором признаке А 10% пропусков. Рассмотрим распределение признака </a:t>
            </a:r>
            <a:r>
              <a:rPr b="1" lang="ru" sz="1600"/>
              <a:t>до</a:t>
            </a:r>
            <a:r>
              <a:rPr lang="ru" sz="1600"/>
              <a:t> заполнения средним и после.</a:t>
            </a:r>
            <a:endParaRPr sz="16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25" y="2259475"/>
            <a:ext cx="3776654" cy="27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Статистические подходы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647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НО!</a:t>
            </a:r>
            <a:r>
              <a:rPr lang="ru" sz="1600"/>
              <a:t> Заполнение некоторой константой может кардинально изменить распределение признака. Пусть есть датасет из 10000 записей, в этом датасете в некотором признаке А 10% пропусков. Рассмотрим распределение признака до заполнения средним и </a:t>
            </a:r>
            <a:r>
              <a:rPr b="1" lang="ru" sz="1600"/>
              <a:t>после</a:t>
            </a:r>
            <a:r>
              <a:rPr lang="ru" sz="1600"/>
              <a:t>.</a:t>
            </a:r>
            <a:endParaRPr sz="16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25" y="2259475"/>
            <a:ext cx="3776654" cy="27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129" y="2259475"/>
            <a:ext cx="3799383" cy="273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21"/>
          <p:cNvCxnSpPr/>
          <p:nvPr/>
        </p:nvCxnSpPr>
        <p:spPr>
          <a:xfrm>
            <a:off x="4437931" y="3498125"/>
            <a:ext cx="4590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Статистические подходы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647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НО!</a:t>
            </a:r>
            <a:r>
              <a:rPr lang="ru" sz="1600"/>
              <a:t> Также может возникнуть ситуация, когда невозможно выбрать наиболее подходящее значение среди отобранных</a:t>
            </a:r>
            <a:endParaRPr sz="1600"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00" y="2399650"/>
            <a:ext cx="2670850" cy="1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0175" y="2399650"/>
            <a:ext cx="2670850" cy="1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050" y="2399650"/>
            <a:ext cx="2670855" cy="1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311700" y="4426475"/>
            <a:ext cx="27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Исходные данные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3300300" y="4426475"/>
            <a:ext cx="26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Заполнение средним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6225050" y="4426475"/>
            <a:ext cx="260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Заполнение медианой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Статистические подходы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647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Чтобы отсеять некорректное заполнение пропусков и отобрать наилучшее, можно исследовать </a:t>
            </a:r>
            <a:r>
              <a:rPr b="1" lang="ru" sz="1600"/>
              <a:t>KL-дивергенцию</a:t>
            </a:r>
            <a:r>
              <a:rPr lang="ru" sz="1600"/>
              <a:t> (дивергенция Кульбака-Лейблера):</a:t>
            </a:r>
            <a:endParaRPr sz="160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225" y="2119490"/>
            <a:ext cx="478155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3435150"/>
            <a:ext cx="85206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Дивергенция – это безразмерная метрика, она показывает, насколько распределение q похоже на распределение p числом от 0 до бесконечности (чем ближе метрика к 0, тем больше распределения могут быть вложены друг в друга)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Пайплайн по проверке статистических методов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для каждого признака, который содержит пропуски, определяется множество значений, которыми можно эти пропуски заполнить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для каждого значения строятся 2 гистограммы: до заполнения пропусков и после, а также считается KL-дивергенция для двух получившихся распределений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на основе внешнего вида распределений и дивергенции принимается решение о выборе значения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Машинные методы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Заполнять пропуски можно также при помощи методов машинного обучения. Благодаря таким алгоритмам можно улавливать нелинейные зависимости в структуре пропусков.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Основными алгоритмами являются </a:t>
            </a:r>
            <a:r>
              <a:rPr b="1" lang="ru" sz="1600"/>
              <a:t>MICE </a:t>
            </a:r>
            <a:r>
              <a:rPr lang="ru" sz="1600"/>
              <a:t>(Multiple Imputation by Chained Equations) и </a:t>
            </a:r>
            <a:r>
              <a:rPr b="1" lang="ru" sz="1600"/>
              <a:t>KNNImputer</a:t>
            </a:r>
            <a:r>
              <a:rPr lang="ru" sz="1600"/>
              <a:t>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Суть методов заключается в том, чтобы обучить модель предсказывать столбцы с пропусками на основании оставшихся признаков (без информации о целевом).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Машинные методы – MICE</a:t>
            </a: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900" y="1082500"/>
            <a:ext cx="703820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Машинные методы – KNN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16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22565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Советы по заполнению пропусков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если признак содержит больше 50-70% пропусков, то его можно посчитать неинформативным и отбросить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если в строке целевое значение содержит пропуск, то такая строка подлежит удалению (восстанавливать целевое значение нельзя)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строки, которые имеют большую концентрацию пропусков, в результате заполнения могут стать аномальными, потому они подлежат удалению (!)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при разделении выборки на обучение и тест может возникнут</a:t>
            </a:r>
            <a:r>
              <a:rPr lang="ru" sz="1600"/>
              <a:t>ь ситуация, что пропусков в train-части нет в некотором признаке, в данном случае все равно необходимо анализировать пропуски, так как они будут в test-части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не стоит отдавать предпочтение только статистическим методам или модельным: лучше заполнить пропуски и тем, и тем способом, а потом проверить метрики качества моделей, обученных на таких данных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Какие бывают виды категориальных признаков?</a:t>
            </a:r>
            <a:endParaRPr sz="35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категориальных признаков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равнозначные категории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категории с отношением порядка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смешанные категории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кодировщиков категориальных признаков</a:t>
            </a:r>
            <a:endParaRPr/>
          </a:p>
        </p:txBody>
      </p:sp>
      <p:graphicFrame>
        <p:nvGraphicFramePr>
          <p:cNvPr id="184" name="Google Shape;184;p31"/>
          <p:cNvGraphicFramePr/>
          <p:nvPr/>
        </p:nvGraphicFramePr>
        <p:xfrm>
          <a:off x="742950" y="1291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{7DD0950E-45A4-4884-ACBC-68C562C47401}</a:tableStyleId>
              </a:tblPr>
              <a:tblGrid>
                <a:gridCol w="1104900"/>
                <a:gridCol w="3352800"/>
                <a:gridCol w="3200400"/>
              </a:tblGrid>
              <a:tr h="42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Метод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Плюсы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Минусы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One-Hot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Простота, интерпретируемость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Проклятие размерности для признаков с &gt;10 категориями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Label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Простота, не увеличивает размерность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Произвольный порядок, плохо для линейных моделей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Target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Учитывает связь с целью, сохраняет размерность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Риск переобучения, чувствительность к настройкам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One-Hot Encoder</a:t>
            </a:r>
            <a:endParaRPr/>
          </a:p>
        </p:txBody>
      </p:sp>
      <p:pic>
        <p:nvPicPr>
          <p:cNvPr id="190" name="Google Shape;190;p32"/>
          <p:cNvPicPr preferRelativeResize="0"/>
          <p:nvPr/>
        </p:nvPicPr>
        <p:blipFill rotWithShape="1">
          <a:blip r:embed="rId3">
            <a:alphaModFix/>
          </a:blip>
          <a:srcRect b="28651" l="9263" r="9344" t="28656"/>
          <a:stretch/>
        </p:blipFill>
        <p:spPr>
          <a:xfrm>
            <a:off x="2886712" y="1756075"/>
            <a:ext cx="3370575" cy="16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One-Hot Encoder и Label Encoder</a:t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894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Target Encoder</a:t>
            </a:r>
            <a:endParaRPr/>
          </a:p>
        </p:txBody>
      </p:sp>
      <p:pic>
        <p:nvPicPr>
          <p:cNvPr id="202" name="Google Shape;2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63" y="1298225"/>
            <a:ext cx="4791075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Стратегии Target Encoder</a:t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950" y="1365625"/>
            <a:ext cx="613410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
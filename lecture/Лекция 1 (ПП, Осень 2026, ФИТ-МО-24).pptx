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c1f5ac1c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c1f5ac1c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c1f5ac1c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c1f5ac1c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c1f5ac1c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c1f5ac1c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c1f5ac1c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c1f5ac1c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c1f5ac1c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c1f5ac1c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d005b0d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9d005b0d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9d005b0da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9d005b0d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1f5ac1c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c1f5ac1c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c1f5ac1c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c1f5ac1c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c1f5ac1c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c1f5ac1c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c1f5ac1c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c1f5ac1c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9d005b0da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9d005b0da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9d005b0da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9d005b0d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9d005b0da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9d005b0da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d005b0da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9d005b0da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d005b0da_1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9d005b0da_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d005b0da_1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9d005b0da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9d005b0da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9d005b0da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9d005b0da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9d005b0da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9d005b0da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9d005b0da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9d005b0da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9d005b0da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9d005b0da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9d005b0da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iki.pmifi.ru" TargetMode="External"/><Relationship Id="rId4" Type="http://schemas.openxmlformats.org/officeDocument/2006/relationships/hyperlink" Target="https://docs.google.com/spreadsheets/d/1fYKrrzEd3aCts2z5j_HvwMVLnlNnJRhXuhthWnjnybY/edit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62550"/>
            <a:ext cx="8520600" cy="130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00"/>
              <a:t>Лекция 1.</a:t>
            </a:r>
            <a:r>
              <a:rPr lang="ru" sz="3000"/>
              <a:t> Методология CRISP-DM. Начало работы над ML-проектом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627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1880"/>
              <a:t>Практикум по программированию, 5 семестр</a:t>
            </a:r>
            <a:endParaRPr sz="1880"/>
          </a:p>
        </p:txBody>
      </p:sp>
      <p:sp>
        <p:nvSpPr>
          <p:cNvPr id="56" name="Google Shape;56;p13"/>
          <p:cNvSpPr txBox="1"/>
          <p:nvPr/>
        </p:nvSpPr>
        <p:spPr>
          <a:xfrm>
            <a:off x="5452200" y="3563400"/>
            <a:ext cx="338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595959"/>
                </a:solidFill>
              </a:rPr>
              <a:t>Иван Евгеньевич Бугаенко, </a:t>
            </a:r>
            <a:endParaRPr sz="1500">
              <a:solidFill>
                <a:srgbClr val="59595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595959"/>
                </a:solidFill>
              </a:rPr>
              <a:t>ассистент каф. ПМиФИ</a:t>
            </a:r>
            <a:endParaRPr sz="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курса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Основная цель</a:t>
            </a:r>
            <a:r>
              <a:rPr lang="ru"/>
              <a:t> – научиться работать с ML-проектами и строить обоснованные модели на основе аналитики данных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принятие решений на основе статистического и графического анализа данных и аргументация своих действий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обоснование выбора методов предобработки данных и моделей для прогнозирования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интерпретирование работы модели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применение современных методов анализа данных и лучших практик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Формат работы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Курс состоит из: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5+4 лекционных занятий (10 баллов)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5 лабораторных работ (50 баллов)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домашнего задания (10 баллов)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демоэкзамена (30 баллов)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Все материалы выкладываются на </a:t>
            </a:r>
            <a:r>
              <a:rPr lang="ru" u="sng">
                <a:solidFill>
                  <a:schemeClr val="hlink"/>
                </a:solidFill>
                <a:hlinkClick r:id="rId3"/>
              </a:rPr>
              <a:t>wiki.pmifi.ru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Рейтинг ведется в </a:t>
            </a:r>
            <a:r>
              <a:rPr lang="ru" u="sng">
                <a:solidFill>
                  <a:schemeClr val="hlink"/>
                </a:solidFill>
                <a:hlinkClick r:id="rId4"/>
              </a:rPr>
              <a:t>таблице</a:t>
            </a:r>
            <a:endParaRPr/>
          </a:p>
        </p:txBody>
      </p:sp>
      <p:cxnSp>
        <p:nvCxnSpPr>
          <p:cNvPr id="69" name="Google Shape;69;p15"/>
          <p:cNvCxnSpPr/>
          <p:nvPr/>
        </p:nvCxnSpPr>
        <p:spPr>
          <a:xfrm>
            <a:off x="592650" y="3108750"/>
            <a:ext cx="79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5"/>
          <p:cNvSpPr txBox="1"/>
          <p:nvPr/>
        </p:nvSpPr>
        <p:spPr>
          <a:xfrm>
            <a:off x="6424375" y="3179875"/>
            <a:ext cx="229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800">
                <a:solidFill>
                  <a:schemeClr val="dk2"/>
                </a:solidFill>
              </a:rPr>
              <a:t>Итого:</a:t>
            </a:r>
            <a:r>
              <a:rPr lang="ru" sz="1800">
                <a:solidFill>
                  <a:schemeClr val="dk2"/>
                </a:solidFill>
              </a:rPr>
              <a:t> 100 баллов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/>
              <a:t>Зачем нужно обосновывать свои решения в ML</a:t>
            </a:r>
            <a:r>
              <a:rPr lang="ru" sz="3520"/>
              <a:t>?</a:t>
            </a:r>
            <a:endParaRPr sz="35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solidFill>
                  <a:schemeClr val="dk2"/>
                </a:solidFill>
              </a:rPr>
              <a:t>Итоговая цель каждого ML-проекта – разработать жизнеспособную модель </a:t>
            </a:r>
            <a:endParaRPr sz="3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вы себе представляете работу над ML-проектом?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b="0" l="49731" r="0" t="0"/>
          <a:stretch/>
        </p:blipFill>
        <p:spPr>
          <a:xfrm>
            <a:off x="423754" y="1251088"/>
            <a:ext cx="2326004" cy="25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169107" y="4198350"/>
            <a:ext cx="28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натыкать наугад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вы себе представляете работу над ML-проектом?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49731" r="0" t="0"/>
          <a:stretch/>
        </p:blipFill>
        <p:spPr>
          <a:xfrm>
            <a:off x="3332991" y="1251088"/>
            <a:ext cx="2326004" cy="25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078345" y="4039050"/>
            <a:ext cx="2835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перебрать все </a:t>
            </a:r>
            <a:br>
              <a:rPr lang="ru" sz="1800">
                <a:solidFill>
                  <a:schemeClr val="dk2"/>
                </a:solidFill>
              </a:rPr>
            </a:br>
            <a:r>
              <a:rPr lang="ru" sz="1800">
                <a:solidFill>
                  <a:schemeClr val="dk2"/>
                </a:solidFill>
              </a:rPr>
              <a:t>варианты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b="0" l="49731" r="0" t="0"/>
          <a:stretch/>
        </p:blipFill>
        <p:spPr>
          <a:xfrm>
            <a:off x="423754" y="1251088"/>
            <a:ext cx="2326004" cy="25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169107" y="4198350"/>
            <a:ext cx="28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натыкать наугад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вы себе представляете работу над ML-проектом?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3">
            <a:alphaModFix/>
          </a:blip>
          <a:srcRect b="0" l="0" r="50783" t="0"/>
          <a:stretch/>
        </p:blipFill>
        <p:spPr>
          <a:xfrm>
            <a:off x="6242233" y="1251088"/>
            <a:ext cx="2277375" cy="258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0" l="49731" r="0" t="0"/>
          <a:stretch/>
        </p:blipFill>
        <p:spPr>
          <a:xfrm>
            <a:off x="3332991" y="1251088"/>
            <a:ext cx="2326004" cy="25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3078345" y="4039050"/>
            <a:ext cx="2835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перебрать все </a:t>
            </a:r>
            <a:br>
              <a:rPr lang="ru" sz="1800">
                <a:solidFill>
                  <a:schemeClr val="dk2"/>
                </a:solidFill>
              </a:rPr>
            </a:br>
            <a:r>
              <a:rPr lang="ru" sz="1800">
                <a:solidFill>
                  <a:schemeClr val="dk2"/>
                </a:solidFill>
              </a:rPr>
              <a:t>варианты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5680222" y="4039050"/>
            <a:ext cx="3401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обоснованный пайплайн работы с данными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49731" r="0" t="0"/>
          <a:stretch/>
        </p:blipFill>
        <p:spPr>
          <a:xfrm>
            <a:off x="423754" y="1251088"/>
            <a:ext cx="2326004" cy="25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169107" y="4198350"/>
            <a:ext cx="283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натыкать наугад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 других подходов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28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ru"/>
              <a:t>невозможно перебрать ВСЕ варианты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ru"/>
              <a:t>шаги по работе с данными могут совершаться интуитивно и наугад, что может испортить качество модели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ru"/>
              <a:t>нет обоснования, почему были совершены те или иные действия, что </a:t>
            </a:r>
            <a:r>
              <a:rPr lang="ru"/>
              <a:t>затрудняет</a:t>
            </a:r>
            <a:r>
              <a:rPr lang="ru"/>
              <a:t> читаемость работы и ее воспроизводимость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 других подходов</a:t>
            </a:r>
            <a:endParaRPr/>
          </a:p>
        </p:txBody>
      </p:sp>
      <p:cxnSp>
        <p:nvCxnSpPr>
          <p:cNvPr id="119" name="Google Shape;119;p22"/>
          <p:cNvCxnSpPr/>
          <p:nvPr/>
        </p:nvCxnSpPr>
        <p:spPr>
          <a:xfrm>
            <a:off x="592650" y="3108750"/>
            <a:ext cx="79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-75" y="3469025"/>
            <a:ext cx="9144000" cy="14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chemeClr val="dk1"/>
                </a:solidFill>
              </a:rPr>
              <a:t>Работа становится одним большим черным ящиком!</a:t>
            </a:r>
            <a:br>
              <a:rPr b="1" lang="ru" sz="2100">
                <a:solidFill>
                  <a:schemeClr val="dk1"/>
                </a:solidFill>
              </a:rPr>
            </a:br>
            <a:r>
              <a:rPr b="1" lang="ru" sz="2100">
                <a:solidFill>
                  <a:schemeClr val="dk1"/>
                </a:solidFill>
              </a:rPr>
              <a:t>Итоговой модели нельзя доверять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183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ru"/>
              <a:t>невозможно перебрать ВСЕ варианты</a:t>
            </a:r>
            <a:endParaRPr/>
          </a:p>
          <a:p>
            <a:pPr indent="-317183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ru"/>
              <a:t>шаги по работе с данными могут совершаться интуитивно и наугад, что может испортить качество модели</a:t>
            </a:r>
            <a:endParaRPr/>
          </a:p>
          <a:p>
            <a:pPr indent="-317183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ru"/>
              <a:t>нет обоснования, почему были совершены те или иные действия, что затрудняет читаемость работы и ее воспроизводимость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аналитика данных?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/>
              <a:t>Аналитика данных</a:t>
            </a:r>
            <a:r>
              <a:rPr lang="ru"/>
              <a:t> – это набор подходов и инструментов по извлечению информации из данных, которая используется для обоснования шагов, которые совершаются в ходе решения ML-задачи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solidFill>
                  <a:schemeClr val="dk2"/>
                </a:solidFill>
              </a:rPr>
              <a:t>Обосновывая свои шаги, исследователь получает жизнеспособную, надежную и понимаемую модель</a:t>
            </a:r>
            <a:endParaRPr sz="3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Жизненный цикл ML-проекта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22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/>
              <a:t>CRISP-DM</a:t>
            </a:r>
            <a:r>
              <a:rPr lang="ru"/>
              <a:t> (Cross-Industry Standard Process for Data Mining) – это стандартная методология жизненного цикла проектов по анализу данных и машинному обучению, которая описывает последовательность шагов от постановки бизнес-задачи до внедрения готового решения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Этапы CRISP-DM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58175"/>
            <a:ext cx="6099126" cy="3601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4775" y="1730688"/>
            <a:ext cx="2486226" cy="225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/>
              <a:t>Можно ли шаблонизировать ML-проект?</a:t>
            </a:r>
            <a:endParaRPr sz="35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solidFill>
                  <a:schemeClr val="dk2"/>
                </a:solidFill>
              </a:rPr>
              <a:t>Каждая ML-задача уникальна, однако </a:t>
            </a:r>
            <a:br>
              <a:rPr lang="ru" sz="3020">
                <a:solidFill>
                  <a:schemeClr val="dk2"/>
                </a:solidFill>
              </a:rPr>
            </a:br>
            <a:r>
              <a:rPr lang="ru" sz="3020">
                <a:solidFill>
                  <a:schemeClr val="dk2"/>
                </a:solidFill>
              </a:rPr>
              <a:t>можно выделить базовый пайплайн по обработке данных с учетом CRISP-DM</a:t>
            </a:r>
            <a:endParaRPr sz="3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шаги по работе с ML-проектом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8520600" cy="28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0"/>
            </a:pPr>
            <a:r>
              <a:rPr lang="ru"/>
              <a:t>Описание задачи и признаков (</a:t>
            </a:r>
            <a:r>
              <a:rPr lang="ru"/>
              <a:t>Business</a:t>
            </a:r>
            <a:r>
              <a:rPr lang="ru"/>
              <a:t> &amp; Data Understanding)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Предварительная обработка данных (Data Preparation)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Генерация новых признаков </a:t>
            </a:r>
            <a:r>
              <a:rPr lang="ru"/>
              <a:t>(Data Preparation)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Выбор ML-моделей и метрик качества (Modeling)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Обучение моделей, кросс-валидация и подбор гиперпараметров </a:t>
            </a:r>
            <a:r>
              <a:rPr lang="ru"/>
              <a:t>(Modeling)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Получение предсказаний на новых данных и вычисление метрик (Evaluation)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Шаг 0. Описание задачи и признаков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647800" cy="28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На данном шаге исследователь собирает всю входную информацию о проекте: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формулирует постановку задачи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выполняет описание признакового пространства (определяет входные и целевые признаки, ограничения на значения, выписывает зависимости прикладной области)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формирует виртуальное окружение (импорт библиотек, seed, фиксация версий библиотек для работы)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+ в самом конце – содержание работы (table of content)</a:t>
            </a:r>
            <a:endParaRPr sz="1600"/>
          </a:p>
        </p:txBody>
      </p:sp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3594825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620">
                <a:solidFill>
                  <a:schemeClr val="dk2"/>
                </a:solidFill>
              </a:rPr>
              <a:t>Цель:</a:t>
            </a:r>
            <a:r>
              <a:rPr lang="ru" sz="1620">
                <a:solidFill>
                  <a:schemeClr val="dk2"/>
                </a:solidFill>
              </a:rPr>
              <a:t> сделать так, чтобы читатель понял, для чего решается задача, какая это вообще задача, а также чтобы работа была воспроизводима (можно было ее запустить с теми же параметрами)</a:t>
            </a:r>
            <a:endParaRPr sz="16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Шаг 1. Предварительная обработка данных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152475"/>
            <a:ext cx="8520600" cy="28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На данном шаге исследователь выполняет базовые действия по работе с данными: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загружает данные в рабочее пространство, выводит их и приводит признаки к необходимому типу (+ агрегация, парсинг дат, отбрасывание столбцов) – первичный этап обработки данных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разделяет выборку на обучение и тест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обрабатывает пропущенные значения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выполняет кодировку категориальных признаков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решает проблему наличия выбросов и аномалий в данных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устраняет дисбаланс классов (для задачи классификации)</a:t>
            </a:r>
            <a:endParaRPr sz="1600"/>
          </a:p>
        </p:txBody>
      </p:sp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144125"/>
            <a:ext cx="8520600" cy="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620">
                <a:solidFill>
                  <a:schemeClr val="dk2"/>
                </a:solidFill>
              </a:rPr>
              <a:t>Цель:</a:t>
            </a:r>
            <a:r>
              <a:rPr lang="ru" sz="1620">
                <a:solidFill>
                  <a:schemeClr val="dk2"/>
                </a:solidFill>
              </a:rPr>
              <a:t> обработать данные так, чтобы можно было обучить baseline-модель</a:t>
            </a:r>
            <a:endParaRPr sz="16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1301550"/>
            <a:ext cx="8520600" cy="25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solidFill>
                  <a:schemeClr val="dk2"/>
                </a:solidFill>
              </a:rPr>
              <a:t>Baseline-модель – это такая наивная модель ML, которая обучалась на базовом варианте обработанных данных. Используется для проверки эффективности инструментов предобработки </a:t>
            </a:r>
            <a:endParaRPr sz="3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Советы по начальному этапу обработки датасета</a:t>
            </a:r>
            <a:endParaRPr/>
          </a:p>
        </p:txBody>
      </p:sp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311700" y="1152475"/>
            <a:ext cx="8520600" cy="3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всегда обращайте внимание на кодировку файла с данными и на разделитель (если речь про .csv и .tsv файлы)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если датасет содержит даты, то передавайте их в параметр parse_dates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обязательно выводите фрагмент датасета через DataFrame.head(), чтобы убедиться, что все корректно почиталось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анализируйте при помощи DataFrame.info(), корректно ли парсятся типы данных при загрузке датасета (сверяйтесь с табличкой, содержащей инфу о семантике признаков); если типы не соответствуют, выполняйте ручное приведение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для принятия решения об отбрасывании категориального признака смотрите на его семантику и количество уникальных значений (Series.nunique())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обращайте внимание на признаки, которые неизвестны на момент получения прогноза, они подлежат удалению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Советы по начальному этапу обработки датасета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311700" y="1152475"/>
            <a:ext cx="8520600" cy="3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агрегаты данных разбивайте на компоненты, если это не критично для задачи (например, дату можно разбить на день, месяц и год, если не решается задача анализа временных рядов)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контролируйте, чтобы во входных признаках не было утечки данных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Типичные ошибки при делении выборки на train/test</a:t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1152475"/>
            <a:ext cx="8520600" cy="3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допускается утечка информации → рекомендуется сначала выполнять деление выборки, а потом выполнять действия только с train-датасетом (и результаты переносить на test)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игнорируется временная структура данных → нужно контролировать, чтобы данные о "будущем" не попадали в обучающую выборку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нарушение баланса классов → использовать стратификацию выборки при разделении (например, поле stratify=...)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слишком большой/маленький train/test → контролировать объем выборки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
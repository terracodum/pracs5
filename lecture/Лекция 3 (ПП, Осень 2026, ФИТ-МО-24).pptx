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F6B160-1577-437F-8CE8-E5984E70C6FF}">
  <a:tblStyle styleId="{81F6B160-1577-437F-8CE8-E5984E70C6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8d7dbd3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8d7dbd3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e061bd1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e061bd1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11d667c7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11d667c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e061bd1d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e061bd1d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e061bd1d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e061bd1d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8d7dbd3e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8d7dbd3e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e061bd1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e061bd1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e061bd1d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e061bd1d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d7dbd3e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8d7dbd3e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e061bd1d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e061bd1d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e061bd1d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e061bd1d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8d7dbd3e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8d7dbd3e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11d667c7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11d667c7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62550"/>
            <a:ext cx="8520600" cy="130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00"/>
              <a:t>Лекция 3.</a:t>
            </a:r>
            <a:r>
              <a:rPr lang="ru" sz="3000"/>
              <a:t> Устранение проблемы наличия выбросов и аномалий в данных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27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880"/>
              <a:t>Практикум по программированию, 5 семестр</a:t>
            </a:r>
            <a:endParaRPr sz="1880"/>
          </a:p>
        </p:txBody>
      </p:sp>
      <p:sp>
        <p:nvSpPr>
          <p:cNvPr id="56" name="Google Shape;56;p13"/>
          <p:cNvSpPr txBox="1"/>
          <p:nvPr/>
        </p:nvSpPr>
        <p:spPr>
          <a:xfrm>
            <a:off x="5452200" y="3563400"/>
            <a:ext cx="338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Иван Евгеньевич Бугаенко, </a:t>
            </a:r>
            <a:endParaRPr sz="1500">
              <a:solidFill>
                <a:srgbClr val="595959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595959"/>
                </a:solidFill>
              </a:rPr>
              <a:t>ассистент каф. ПМиФИ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Что такое выбросы и </a:t>
            </a:r>
            <a:br>
              <a:rPr lang="ru" sz="3520"/>
            </a:br>
            <a:r>
              <a:rPr lang="ru" sz="3520"/>
              <a:t>аномалии в данных?</a:t>
            </a:r>
            <a:endParaRPr sz="35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20">
                <a:solidFill>
                  <a:schemeClr val="dk2"/>
                </a:solidFill>
              </a:rPr>
              <a:t>Выбросы </a:t>
            </a:r>
            <a:r>
              <a:rPr lang="ru" sz="3020">
                <a:solidFill>
                  <a:schemeClr val="dk2"/>
                </a:solidFill>
              </a:rPr>
              <a:t>– это значения данного столбца</a:t>
            </a:r>
            <a:r>
              <a:rPr lang="ru" sz="3020">
                <a:solidFill>
                  <a:schemeClr val="dk2"/>
                </a:solidFill>
              </a:rPr>
              <a:t>, которые не похожи на подавляющее большинство значений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631692"/>
            <a:ext cx="86478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Пример 1.</a:t>
            </a:r>
            <a:r>
              <a:rPr lang="ru" sz="1600"/>
              <a:t> Выбросы в данных</a:t>
            </a:r>
            <a:endParaRPr sz="1600"/>
          </a:p>
        </p:txBody>
      </p:sp>
      <p:graphicFrame>
        <p:nvGraphicFramePr>
          <p:cNvPr id="72" name="Google Shape;72;p16"/>
          <p:cNvGraphicFramePr/>
          <p:nvPr/>
        </p:nvGraphicFramePr>
        <p:xfrm>
          <a:off x="2592125" y="1428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{81F6B160-1577-437F-8CE8-E5984E70C6FF}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num_feature1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cat_feature1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num_feature2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target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56.09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7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79.6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34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FF0000"/>
                          </a:solidFill>
                        </a:rPr>
                        <a:t>45664.8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67.08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23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86.7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2348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3" name="Google Shape;73;p16"/>
          <p:cNvSpPr/>
          <p:nvPr/>
        </p:nvSpPr>
        <p:spPr>
          <a:xfrm>
            <a:off x="2541725" y="1320900"/>
            <a:ext cx="1247400" cy="256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20">
                <a:solidFill>
                  <a:schemeClr val="dk2"/>
                </a:solidFill>
              </a:rPr>
              <a:t>Аномалии </a:t>
            </a:r>
            <a:r>
              <a:rPr lang="ru" sz="3020">
                <a:solidFill>
                  <a:schemeClr val="dk2"/>
                </a:solidFill>
              </a:rPr>
              <a:t>– это объекты (строки), которые не похожи на </a:t>
            </a:r>
            <a:r>
              <a:rPr lang="ru" sz="3020">
                <a:solidFill>
                  <a:schemeClr val="dk2"/>
                </a:solidFill>
              </a:rPr>
              <a:t>подавляющее</a:t>
            </a:r>
            <a:r>
              <a:rPr lang="ru" sz="3020">
                <a:solidFill>
                  <a:schemeClr val="dk2"/>
                </a:solidFill>
              </a:rPr>
              <a:t> </a:t>
            </a:r>
            <a:r>
              <a:rPr lang="ru" sz="3020">
                <a:solidFill>
                  <a:schemeClr val="dk2"/>
                </a:solidFill>
              </a:rPr>
              <a:t>большинство</a:t>
            </a:r>
            <a:r>
              <a:rPr lang="ru" sz="3020">
                <a:solidFill>
                  <a:schemeClr val="dk2"/>
                </a:solidFill>
              </a:rPr>
              <a:t> объектов</a:t>
            </a:r>
            <a:endParaRPr sz="302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8"/>
          <p:cNvGraphicFramePr/>
          <p:nvPr/>
        </p:nvGraphicFramePr>
        <p:xfrm>
          <a:off x="2592125" y="1428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{81F6B160-1577-437F-8CE8-E5984E70C6FF}</a:tableStyleId>
              </a:tblPr>
              <a:tblGrid>
                <a:gridCol w="1150075"/>
                <a:gridCol w="1064025"/>
                <a:gridCol w="1150125"/>
                <a:gridCol w="59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num_feature1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cat_feature1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num_feature2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target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56.09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7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0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79.6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4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64.6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7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778976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b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536545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1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60.6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6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2"/>
                          </a:solidFill>
                        </a:rPr>
                        <a:t>0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631692"/>
            <a:ext cx="86478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600"/>
              <a:t>Пример 2.</a:t>
            </a:r>
            <a:r>
              <a:rPr lang="ru" sz="1600"/>
              <a:t> Аномальные объекты в данных</a:t>
            </a:r>
            <a:endParaRPr sz="1600"/>
          </a:p>
        </p:txBody>
      </p:sp>
      <p:sp>
        <p:nvSpPr>
          <p:cNvPr id="85" name="Google Shape;85;p18"/>
          <p:cNvSpPr/>
          <p:nvPr/>
        </p:nvSpPr>
        <p:spPr>
          <a:xfrm>
            <a:off x="2475025" y="2881950"/>
            <a:ext cx="4203000" cy="520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Инструменты по борьбе с выбросами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Данные подходы пытаются найти пороговые величины, которые заключают большинство схожих значений внутри признака</a:t>
            </a:r>
            <a:endParaRPr sz="160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961325"/>
            <a:ext cx="8520600" cy="28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Анализ распределений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IQR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Z-score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Инструменты по борьбе с аномалиями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647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Данные подходы (обучение без учителя) пытаются анализировать различные аспекты пространственной информации и тем самым найти аномальные объекты</a:t>
            </a:r>
            <a:endParaRPr sz="16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961325"/>
            <a:ext cx="8520600" cy="28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Isolation Forest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One-class SVM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DBSCAN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Isolation Forest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88" y="1103400"/>
            <a:ext cx="8126024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Isolation Forest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70050"/>
            <a:ext cx="67928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One-class SVM</a:t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463" y="1017725"/>
            <a:ext cx="659907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DBSCAN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238" y="1017725"/>
            <a:ext cx="728952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1913700"/>
            <a:ext cx="8520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520"/>
              <a:t>Какой подход выбрать?</a:t>
            </a:r>
            <a:endParaRPr sz="35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Советы по работе с аномалиями и выбросами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Всегда начинайте с построения гистограмм, функций плотности и диаграмм "Ящик с усами": они покажут наличие выбросов внутри отдельных признаков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Если видны выбросы, то применяйте IQR / Z-score (а лучше использовать и то, и то, а потом посмотреть </a:t>
            </a:r>
            <a:r>
              <a:rPr lang="ru" sz="1600"/>
              <a:t>пересечение</a:t>
            </a:r>
            <a:r>
              <a:rPr lang="ru" sz="1600"/>
              <a:t> результатов). Помните, что выбросы необходимо </a:t>
            </a:r>
            <a:r>
              <a:rPr b="1" lang="ru" sz="1600"/>
              <a:t>интерпретировать (!)</a:t>
            </a:r>
            <a:r>
              <a:rPr lang="ru" sz="1600"/>
              <a:t>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После работы с выбросами можно посмотреть аномальные объекты (также лучше применять несколько подходов и сравнивать результаты). А потом попытаться их </a:t>
            </a:r>
            <a:r>
              <a:rPr b="1" lang="ru" sz="1600"/>
              <a:t>интерпретировать (!)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Всегда можно визуализировать аномалии в двумерном пространстве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Работать с аномалиями и выбросами очень сложно, </a:t>
            </a:r>
            <a:r>
              <a:rPr b="1" lang="ru" sz="1600"/>
              <a:t>без экспертной оценки и понимания предметной области удалять строки нельзя (!)</a:t>
            </a:r>
            <a:endParaRPr b="1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
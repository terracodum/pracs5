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C29F6C-0DD8-4614-9F87-0CB4CF9546C3}">
  <a:tblStyle styleId="{BEC29F6C-0DD8-4614-9F87-0CB4CF9546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8d7dbd3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8d7dbd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e061bd1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e061bd1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f12ed9f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f12ed9f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e061bd1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e061bd1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12ed9ff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f12ed9ff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8d7dbd3e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8d7dbd3e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e061bd1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e061bd1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f12ed9f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f12ed9f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f12ed9ff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f12ed9f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12ed9ff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12ed9ff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12ed9ff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f12ed9ff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12ed9ff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f12ed9ff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12ed9ff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f12ed9ff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f12ed9ff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f12ed9ff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12ed9ff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f12ed9ff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62550"/>
            <a:ext cx="8520600" cy="130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00"/>
              <a:t>Лекция 4.</a:t>
            </a:r>
            <a:r>
              <a:rPr lang="ru" sz="3000"/>
              <a:t> </a:t>
            </a:r>
            <a:r>
              <a:rPr lang="ru" sz="3000"/>
              <a:t>Генерация новых признаков</a:t>
            </a:r>
            <a:r>
              <a:rPr lang="ru" sz="3000"/>
              <a:t>. Скалирование данных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27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880"/>
              <a:t>Практикум по программированию, 5 семестр</a:t>
            </a:r>
            <a:endParaRPr sz="1880"/>
          </a:p>
        </p:txBody>
      </p:sp>
      <p:sp>
        <p:nvSpPr>
          <p:cNvPr id="56" name="Google Shape;56;p13"/>
          <p:cNvSpPr txBox="1"/>
          <p:nvPr/>
        </p:nvSpPr>
        <p:spPr>
          <a:xfrm>
            <a:off x="5452200" y="3563400"/>
            <a:ext cx="338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Иван Евгеньевич Бугаенко, 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ассистент каф. ПМиФИ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Что такое генерация новых</a:t>
            </a:r>
            <a:br>
              <a:rPr lang="ru" sz="3520"/>
            </a:br>
            <a:r>
              <a:rPr lang="ru" sz="3520"/>
              <a:t>признаков?</a:t>
            </a:r>
            <a:endParaRPr sz="35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20">
                <a:solidFill>
                  <a:schemeClr val="dk2"/>
                </a:solidFill>
              </a:rPr>
              <a:t>Генерация признаков </a:t>
            </a:r>
            <a:r>
              <a:rPr lang="ru" sz="3020">
                <a:solidFill>
                  <a:schemeClr val="dk2"/>
                </a:solidFill>
              </a:rPr>
              <a:t>– это процесс создания новых признаков (столбцов) на основе уже имеющихся значений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Зачем вообще нужна генерация признаков?</a:t>
            </a:r>
            <a:endParaRPr sz="35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solidFill>
                  <a:schemeClr val="dk2"/>
                </a:solidFill>
              </a:rPr>
              <a:t>Генерация признаков может увеличить (а может не увеличить) итоговые метрики модели и пофиксить проблемы в данных</a:t>
            </a:r>
            <a:endParaRPr sz="3020">
              <a:solidFill>
                <a:schemeClr val="dk2"/>
              </a:solidFill>
            </a:endParaRPr>
          </a:p>
        </p:txBody>
      </p:sp>
      <p:cxnSp>
        <p:nvCxnSpPr>
          <p:cNvPr id="77" name="Google Shape;77;p17"/>
          <p:cNvCxnSpPr/>
          <p:nvPr/>
        </p:nvCxnSpPr>
        <p:spPr>
          <a:xfrm>
            <a:off x="7925400" y="2274875"/>
            <a:ext cx="520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7"/>
          <p:cNvCxnSpPr/>
          <p:nvPr/>
        </p:nvCxnSpPr>
        <p:spPr>
          <a:xfrm>
            <a:off x="1027375" y="2755200"/>
            <a:ext cx="378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3400" y="1658050"/>
            <a:ext cx="8520600" cy="26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Повышение точности моделей. Хорошо подобранные признаки помогают алгоритму лучше понять структуру данных и закономерности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Учет сложных зависимостей. Иногда исходные данные не содержат явных признаков, которые могут хорошо объяснять целевую переменную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Упрощение модели. С помощью создания новых фич можно упростить признаковое пространство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Подходы по генерации признаков 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017725"/>
            <a:ext cx="8520600" cy="3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Генерация на основе свойств признакового пространства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Генерация на основе арифметических операций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Генерация на основе агрегации данных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Статистические преобразования (скалирование)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Функциональные преобразования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Формирование интервальных признаков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Использование сторонних данных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Генерация для последовательных данных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906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Генерация на основе свойств признакового пространства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285242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Для генерации новых признаков можно использовать формулы прикладной области (если они есть, конечно же…)</a:t>
            </a:r>
            <a:endParaRPr sz="1600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2980950" y="2973292"/>
            <a:ext cx="2901600" cy="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feature3 = feature1 / feature2</a:t>
            </a:r>
            <a:endParaRPr sz="1600"/>
          </a:p>
        </p:txBody>
      </p:sp>
      <p:graphicFrame>
        <p:nvGraphicFramePr>
          <p:cNvPr id="97" name="Google Shape;97;p20"/>
          <p:cNvGraphicFramePr/>
          <p:nvPr/>
        </p:nvGraphicFramePr>
        <p:xfrm>
          <a:off x="528408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</a:t>
                      </a: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8" name="Google Shape;98;p20"/>
          <p:cNvGraphicFramePr/>
          <p:nvPr/>
        </p:nvGraphicFramePr>
        <p:xfrm>
          <a:off x="6288283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805150"/>
                <a:gridCol w="805150"/>
                <a:gridCol w="80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feature3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5.75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2.15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99" name="Google Shape;99;p20"/>
          <p:cNvCxnSpPr/>
          <p:nvPr/>
        </p:nvCxnSpPr>
        <p:spPr>
          <a:xfrm>
            <a:off x="3112363" y="3518975"/>
            <a:ext cx="252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Генерация на основе арифметических операций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Новые признаки можно </a:t>
            </a:r>
            <a:r>
              <a:rPr lang="ru" sz="1600"/>
              <a:t>генерировать</a:t>
            </a:r>
            <a:r>
              <a:rPr lang="ru" sz="1600"/>
              <a:t> как всевозможные комбинации признаков и арифметических операций</a:t>
            </a:r>
            <a:endParaRPr sz="1600"/>
          </a:p>
        </p:txBody>
      </p:sp>
      <p:graphicFrame>
        <p:nvGraphicFramePr>
          <p:cNvPr id="106" name="Google Shape;106;p21"/>
          <p:cNvGraphicFramePr/>
          <p:nvPr/>
        </p:nvGraphicFramePr>
        <p:xfrm>
          <a:off x="528408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43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7" name="Google Shape;107;p21"/>
          <p:cNvGraphicFramePr/>
          <p:nvPr/>
        </p:nvGraphicFramePr>
        <p:xfrm>
          <a:off x="4225433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764575"/>
                <a:gridCol w="764650"/>
                <a:gridCol w="617225"/>
                <a:gridCol w="605825"/>
                <a:gridCol w="568050"/>
                <a:gridCol w="55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/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*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+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-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5.75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2.15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08" name="Google Shape;108;p21"/>
          <p:cNvCxnSpPr/>
          <p:nvPr/>
        </p:nvCxnSpPr>
        <p:spPr>
          <a:xfrm>
            <a:off x="2988875" y="3280850"/>
            <a:ext cx="70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Генерация на основе агрегации данных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Для панельных данных (серия измерений для одного объекта) и данных с категориальными признаками можно создавать агрегации</a:t>
            </a:r>
            <a:endParaRPr sz="1600"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528408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643475"/>
                <a:gridCol w="643475"/>
                <a:gridCol w="84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id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t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6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6" name="Google Shape;116;p22"/>
          <p:cNvCxnSpPr/>
          <p:nvPr/>
        </p:nvCxnSpPr>
        <p:spPr>
          <a:xfrm>
            <a:off x="2988875" y="3280850"/>
            <a:ext cx="70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7" name="Google Shape;117;p22"/>
          <p:cNvGraphicFramePr/>
          <p:nvPr/>
        </p:nvGraphicFramePr>
        <p:xfrm>
          <a:off x="4022583" y="2050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606075"/>
                <a:gridCol w="544350"/>
                <a:gridCol w="667800"/>
                <a:gridCol w="853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id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feature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12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20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mean24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mean55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27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mean55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mean55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7073183" y="2518850"/>
            <a:ext cx="18873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mean(i) – среднее значение признака feature для значения признака id=i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Статистические преобразования (скалирование)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Вычисление нового значения признака для улучшения распределения или снижения влияния выбросов / диспропорции значений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Стандартизация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MinMax-преобразование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Робастное скалирование</a:t>
            </a:r>
            <a:endParaRPr sz="1600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4374436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Решение о скалировании применяется на основе df.describe()</a:t>
            </a:r>
            <a:endParaRPr sz="1600"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60525"/>
            <a:ext cx="8839200" cy="135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Функциональные преобразования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Применение некоторых функциональных зависимостей к признакам для построения нелинейных связей</a:t>
            </a:r>
            <a:endParaRPr sz="1600"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2980950" y="2973292"/>
            <a:ext cx="2901600" cy="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log</a:t>
            </a:r>
            <a:endParaRPr sz="1600"/>
          </a:p>
        </p:txBody>
      </p:sp>
      <p:graphicFrame>
        <p:nvGraphicFramePr>
          <p:cNvPr id="134" name="Google Shape;134;p24"/>
          <p:cNvGraphicFramePr/>
          <p:nvPr/>
        </p:nvGraphicFramePr>
        <p:xfrm>
          <a:off x="528408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5" name="Google Shape;135;p24"/>
          <p:cNvGraphicFramePr/>
          <p:nvPr/>
        </p:nvGraphicFramePr>
        <p:xfrm>
          <a:off x="6288283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805150"/>
                <a:gridCol w="805150"/>
                <a:gridCol w="80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ln(f1)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3.178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3.135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3.761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3.135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3.989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6" name="Google Shape;136;p24"/>
          <p:cNvCxnSpPr/>
          <p:nvPr/>
        </p:nvCxnSpPr>
        <p:spPr>
          <a:xfrm>
            <a:off x="3112363" y="3518975"/>
            <a:ext cx="252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Формирование интервальных признаков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Вещественные признаки можно представлять как интервал значений</a:t>
            </a:r>
            <a:endParaRPr sz="1600"/>
          </a:p>
        </p:txBody>
      </p:sp>
      <p:graphicFrame>
        <p:nvGraphicFramePr>
          <p:cNvPr id="143" name="Google Shape;143;p25"/>
          <p:cNvGraphicFramePr/>
          <p:nvPr/>
        </p:nvGraphicFramePr>
        <p:xfrm>
          <a:off x="1482708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43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" name="Google Shape;144;p25"/>
          <p:cNvGraphicFramePr/>
          <p:nvPr/>
        </p:nvGraphicFramePr>
        <p:xfrm>
          <a:off x="5179733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764575"/>
                <a:gridCol w="764650"/>
                <a:gridCol w="95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int_f1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(23; 43]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(0; 23]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(23; 43]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(0; 23]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(43; 55]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45" name="Google Shape;145;p25"/>
          <p:cNvCxnSpPr/>
          <p:nvPr/>
        </p:nvCxnSpPr>
        <p:spPr>
          <a:xfrm>
            <a:off x="3943175" y="3280850"/>
            <a:ext cx="70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сторонних данных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Для исходного датасета можно использовать связи с другими датасетами с целью пополнения данных</a:t>
            </a:r>
            <a:endParaRPr sz="1600"/>
          </a:p>
        </p:txBody>
      </p:sp>
      <p:graphicFrame>
        <p:nvGraphicFramePr>
          <p:cNvPr id="152" name="Google Shape;152;p26"/>
          <p:cNvGraphicFramePr/>
          <p:nvPr/>
        </p:nvGraphicFramePr>
        <p:xfrm>
          <a:off x="424383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id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3" name="Google Shape;153;p26"/>
          <p:cNvGraphicFramePr/>
          <p:nvPr/>
        </p:nvGraphicFramePr>
        <p:xfrm>
          <a:off x="5982283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764575"/>
                <a:gridCol w="764650"/>
                <a:gridCol w="95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id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66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66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cxnSp>
        <p:nvCxnSpPr>
          <p:cNvPr id="154" name="Google Shape;154;p26"/>
          <p:cNvCxnSpPr/>
          <p:nvPr/>
        </p:nvCxnSpPr>
        <p:spPr>
          <a:xfrm>
            <a:off x="4923888" y="3280850"/>
            <a:ext cx="70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55" name="Google Shape;155;p26"/>
          <p:cNvGraphicFramePr/>
          <p:nvPr/>
        </p:nvGraphicFramePr>
        <p:xfrm>
          <a:off x="2641558" y="2449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id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66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4572000" y="2830350"/>
            <a:ext cx="1410300" cy="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join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Генерация для последовательных данных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Для последовательных данных можно использовать структуру с целью выделения паттернов и динамики (лаговые сдвиги, вычисление разностей)</a:t>
            </a:r>
            <a:endParaRPr sz="1600"/>
          </a:p>
        </p:txBody>
      </p:sp>
      <p:graphicFrame>
        <p:nvGraphicFramePr>
          <p:cNvPr id="163" name="Google Shape;163;p27"/>
          <p:cNvGraphicFramePr/>
          <p:nvPr/>
        </p:nvGraphicFramePr>
        <p:xfrm>
          <a:off x="1297500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965225"/>
                <a:gridCol w="965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t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4" name="Google Shape;164;p27"/>
          <p:cNvGraphicFramePr/>
          <p:nvPr/>
        </p:nvGraphicFramePr>
        <p:xfrm>
          <a:off x="5057078" y="2068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{BEC29F6C-0DD8-4614-9F87-0CB4CF9546C3}</a:tableStyleId>
              </a:tblPr>
              <a:tblGrid>
                <a:gridCol w="624725"/>
                <a:gridCol w="783475"/>
                <a:gridCol w="704100"/>
                <a:gridCol w="704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t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feature2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lag1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delta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NaN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NaN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12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8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-16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20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-3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5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27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23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595959"/>
                          </a:solidFill>
                        </a:rPr>
                        <a:t>-4</a:t>
                      </a:r>
                      <a:endParaRPr sz="12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5" name="Google Shape;165;p27"/>
          <p:cNvCxnSpPr/>
          <p:nvPr/>
        </p:nvCxnSpPr>
        <p:spPr>
          <a:xfrm>
            <a:off x="3865494" y="3280850"/>
            <a:ext cx="70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Советы по генерации признаков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Если есть возможность, всегда генерируйте дополнительные признаки! Неинформативные признаки можно отсеять в результате отбора (после обучения модели)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Все вспомогательные вычисления осуществляются исключительно на обучающей выборке (в противном случае – утечка данных) без целевых значений. Это касается скалирования, интервальных признаков, формул, агрегация и временных рядов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При помощи формул прикладной области можно решать проблему </a:t>
            </a:r>
            <a:r>
              <a:rPr b="1" lang="ru" sz="1600"/>
              <a:t>мультиколлинеарности </a:t>
            </a:r>
            <a:r>
              <a:rPr lang="ru" sz="1600"/>
              <a:t>в данных. Генерация признаков также решает проблемы слабых зависимостей в данных и диспропорции величин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